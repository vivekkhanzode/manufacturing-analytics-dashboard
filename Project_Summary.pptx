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5" r:id="rId1"/>
  </p:sldMasterIdLst>
  <p:notesMasterIdLst>
    <p:notesMasterId r:id="rId17"/>
  </p:notesMasterIdLst>
  <p:sldIdLst>
    <p:sldId id="256" r:id="rId2"/>
    <p:sldId id="257" r:id="rId3"/>
    <p:sldId id="258" r:id="rId4"/>
    <p:sldId id="269" r:id="rId5"/>
    <p:sldId id="260" r:id="rId6"/>
    <p:sldId id="261" r:id="rId7"/>
    <p:sldId id="262" r:id="rId8"/>
    <p:sldId id="263" r:id="rId9"/>
    <p:sldId id="264" r:id="rId10"/>
    <p:sldId id="272" r:id="rId11"/>
    <p:sldId id="265" r:id="rId12"/>
    <p:sldId id="267" r:id="rId13"/>
    <p:sldId id="268"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ek Khanzode" userId="93afbfc90df4f8d6" providerId="LiveId" clId="{C0299538-81CE-4915-84D6-73DCBFB65F51}"/>
    <pc:docChg chg="modSld">
      <pc:chgData name="Vivek Khanzode" userId="93afbfc90df4f8d6" providerId="LiveId" clId="{C0299538-81CE-4915-84D6-73DCBFB65F51}" dt="2025-12-11T15:34:21.371" v="43" actId="20577"/>
      <pc:docMkLst>
        <pc:docMk/>
      </pc:docMkLst>
      <pc:sldChg chg="modSp mod">
        <pc:chgData name="Vivek Khanzode" userId="93afbfc90df4f8d6" providerId="LiveId" clId="{C0299538-81CE-4915-84D6-73DCBFB65F51}" dt="2025-12-11T15:34:21.371" v="43" actId="20577"/>
        <pc:sldMkLst>
          <pc:docMk/>
          <pc:sldMk cId="3569750882" sldId="258"/>
        </pc:sldMkLst>
        <pc:spChg chg="mod">
          <ac:chgData name="Vivek Khanzode" userId="93afbfc90df4f8d6" providerId="LiveId" clId="{C0299538-81CE-4915-84D6-73DCBFB65F51}" dt="2025-12-11T15:34:21.371" v="43" actId="20577"/>
          <ac:spMkLst>
            <pc:docMk/>
            <pc:sldMk cId="3569750882" sldId="258"/>
            <ac:spMk id="3" creationId="{CE4F616C-AB55-A6D0-9FA9-4535AFF7CD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1E757-0B10-4171-A3B6-F02AAAD5BCD5}" type="datetimeFigureOut">
              <a:rPr lang="en-IN" smtClean="0"/>
              <a:t>11-12-2025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322FE-B12F-4681-ACD4-9E98A8AFEA01}" type="slidenum">
              <a:rPr lang="en-IN" smtClean="0"/>
              <a:t>‹#›</a:t>
            </a:fld>
            <a:endParaRPr lang="en-IN"/>
          </a:p>
        </p:txBody>
      </p:sp>
    </p:spTree>
    <p:extLst>
      <p:ext uri="{BB962C8B-B14F-4D97-AF65-F5344CB8AC3E}">
        <p14:creationId xmlns:p14="http://schemas.microsoft.com/office/powerpoint/2010/main" val="3292568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0322FE-B12F-4681-ACD4-9E98A8AFEA01}" type="slidenum">
              <a:rPr lang="en-IN" smtClean="0"/>
              <a:t>9</a:t>
            </a:fld>
            <a:endParaRPr lang="en-IN"/>
          </a:p>
        </p:txBody>
      </p:sp>
    </p:spTree>
    <p:extLst>
      <p:ext uri="{BB962C8B-B14F-4D97-AF65-F5344CB8AC3E}">
        <p14:creationId xmlns:p14="http://schemas.microsoft.com/office/powerpoint/2010/main" val="1959233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B86494-2237-4839-8714-38F31CCF07E0}" type="datetimeFigureOut">
              <a:rPr lang="en-IN" smtClean="0"/>
              <a:t>11-12-2025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A2645311-C3C1-48B9-95E7-8EE0F5F14C94}"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8936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B86494-2237-4839-8714-38F31CCF07E0}"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45311-C3C1-48B9-95E7-8EE0F5F14C94}"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5381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B86494-2237-4839-8714-38F31CCF07E0}"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45311-C3C1-48B9-95E7-8EE0F5F14C9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85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B86494-2237-4839-8714-38F31CCF07E0}"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45311-C3C1-48B9-95E7-8EE0F5F14C9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9370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B86494-2237-4839-8714-38F31CCF07E0}" type="datetimeFigureOut">
              <a:rPr lang="en-IN" smtClean="0"/>
              <a:t>11-12-2025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2645311-C3C1-48B9-95E7-8EE0F5F14C9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2548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B86494-2237-4839-8714-38F31CCF07E0}" type="datetimeFigureOut">
              <a:rPr lang="en-IN" smtClean="0"/>
              <a:t>11-12-2025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2645311-C3C1-48B9-95E7-8EE0F5F14C9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2868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B86494-2237-4839-8714-38F31CCF07E0}" type="datetimeFigureOut">
              <a:rPr lang="en-IN" smtClean="0"/>
              <a:t>11-12-2025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2645311-C3C1-48B9-95E7-8EE0F5F14C94}" type="slidenum">
              <a:rPr lang="en-IN" smtClean="0"/>
              <a:t>‹#›</a:t>
            </a:fld>
            <a:endParaRPr lang="en-IN"/>
          </a:p>
        </p:txBody>
      </p:sp>
    </p:spTree>
    <p:extLst>
      <p:ext uri="{BB962C8B-B14F-4D97-AF65-F5344CB8AC3E}">
        <p14:creationId xmlns:p14="http://schemas.microsoft.com/office/powerpoint/2010/main" val="1961997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B86494-2237-4839-8714-38F31CCF07E0}"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2645311-C3C1-48B9-95E7-8EE0F5F14C9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5757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FB86494-2237-4839-8714-38F31CCF07E0}" type="datetimeFigureOut">
              <a:rPr lang="en-IN" smtClean="0"/>
              <a:t>11-12-2025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A2645311-C3C1-48B9-95E7-8EE0F5F14C9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B86494-2237-4839-8714-38F31CCF07E0}"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45311-C3C1-48B9-95E7-8EE0F5F14C9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96596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B86494-2237-4839-8714-38F31CCF07E0}"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2645311-C3C1-48B9-95E7-8EE0F5F14C9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1585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FB86494-2237-4839-8714-38F31CCF07E0}" type="datetimeFigureOut">
              <a:rPr lang="en-IN" smtClean="0"/>
              <a:t>11-12-2025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2645311-C3C1-48B9-95E7-8EE0F5F14C9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140737"/>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8925-F9A1-767E-A9E3-FACC46B1A2A3}"/>
              </a:ext>
            </a:extLst>
          </p:cNvPr>
          <p:cNvSpPr>
            <a:spLocks noGrp="1"/>
          </p:cNvSpPr>
          <p:nvPr>
            <p:ph type="ctrTitle"/>
          </p:nvPr>
        </p:nvSpPr>
        <p:spPr>
          <a:xfrm>
            <a:off x="1524000" y="648929"/>
            <a:ext cx="8141110" cy="1307690"/>
          </a:xfrm>
        </p:spPr>
        <p:txBody>
          <a:bodyPr>
            <a:normAutofit fontScale="90000"/>
          </a:bodyPr>
          <a:lstStyle/>
          <a:p>
            <a:r>
              <a:rPr lang="en-US" b="1" dirty="0"/>
              <a:t>Manufacturing Analytics</a:t>
            </a:r>
            <a:endParaRPr lang="en-IN" b="1" dirty="0"/>
          </a:p>
        </p:txBody>
      </p:sp>
      <p:sp>
        <p:nvSpPr>
          <p:cNvPr id="3" name="Subtitle 2">
            <a:extLst>
              <a:ext uri="{FF2B5EF4-FFF2-40B4-BE49-F238E27FC236}">
                <a16:creationId xmlns:a16="http://schemas.microsoft.com/office/drawing/2014/main" id="{DE99EF1D-BDD2-5550-A60A-8CB7A72C0FDA}"/>
              </a:ext>
            </a:extLst>
          </p:cNvPr>
          <p:cNvSpPr>
            <a:spLocks noGrp="1"/>
          </p:cNvSpPr>
          <p:nvPr>
            <p:ph type="subTitle" idx="1"/>
          </p:nvPr>
        </p:nvSpPr>
        <p:spPr>
          <a:xfrm>
            <a:off x="894735" y="2163097"/>
            <a:ext cx="9674942" cy="3143864"/>
          </a:xfrm>
        </p:spPr>
        <p:txBody>
          <a:bodyPr/>
          <a:lstStyle/>
          <a:p>
            <a:r>
              <a:rPr lang="en-US" b="1" dirty="0"/>
              <a:t>Project Name : </a:t>
            </a:r>
            <a:r>
              <a:rPr lang="en-US" dirty="0"/>
              <a:t>Manufacturing Analytics</a:t>
            </a:r>
          </a:p>
          <a:p>
            <a:r>
              <a:rPr lang="en-US" b="1" dirty="0"/>
              <a:t>Group 2</a:t>
            </a:r>
            <a:endParaRPr lang="en-IN" b="1" dirty="0"/>
          </a:p>
        </p:txBody>
      </p:sp>
    </p:spTree>
    <p:extLst>
      <p:ext uri="{BB962C8B-B14F-4D97-AF65-F5344CB8AC3E}">
        <p14:creationId xmlns:p14="http://schemas.microsoft.com/office/powerpoint/2010/main" val="3250930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4D4407-9AF5-4119-E430-B6860A99D216}"/>
              </a:ext>
            </a:extLst>
          </p:cNvPr>
          <p:cNvSpPr txBox="1"/>
          <p:nvPr/>
        </p:nvSpPr>
        <p:spPr>
          <a:xfrm>
            <a:off x="3814916" y="521110"/>
            <a:ext cx="4345858" cy="769441"/>
          </a:xfrm>
          <a:prstGeom prst="rect">
            <a:avLst/>
          </a:prstGeom>
          <a:noFill/>
        </p:spPr>
        <p:txBody>
          <a:bodyPr wrap="square" rtlCol="0">
            <a:spAutoFit/>
          </a:bodyPr>
          <a:lstStyle/>
          <a:p>
            <a:r>
              <a:rPr lang="en-US" sz="4400" b="1" dirty="0"/>
              <a:t>Introduction</a:t>
            </a:r>
            <a:endParaRPr lang="en-IN" sz="4400" b="1" dirty="0"/>
          </a:p>
        </p:txBody>
      </p:sp>
      <p:sp>
        <p:nvSpPr>
          <p:cNvPr id="3" name="TextBox 2">
            <a:extLst>
              <a:ext uri="{FF2B5EF4-FFF2-40B4-BE49-F238E27FC236}">
                <a16:creationId xmlns:a16="http://schemas.microsoft.com/office/drawing/2014/main" id="{AA7AAFE7-D042-6ABD-BCAE-ED9C769EC133}"/>
              </a:ext>
            </a:extLst>
          </p:cNvPr>
          <p:cNvSpPr txBox="1"/>
          <p:nvPr/>
        </p:nvSpPr>
        <p:spPr>
          <a:xfrm>
            <a:off x="688258" y="1386345"/>
            <a:ext cx="10903974" cy="3477875"/>
          </a:xfrm>
          <a:prstGeom prst="rect">
            <a:avLst/>
          </a:prstGeom>
          <a:noFill/>
        </p:spPr>
        <p:txBody>
          <a:bodyPr wrap="square" rtlCol="0">
            <a:spAutoFit/>
          </a:bodyPr>
          <a:lstStyle/>
          <a:p>
            <a:r>
              <a:rPr lang="en-US" sz="2000" dirty="0"/>
              <a:t>This project focuses on analyzing the end-to-end manufacturing performance of the organization. The dashboard highlights the total manufactured quantity, processed quantity and rejected quantity across different machines, departments and employees. It enables management to understand where rejection is occurring, how production is trending and which areas require performance improvement. By visualizing rejection ratio, production comparison and department-wise contribution, the dashboard supports decision making to reduce wastage and improve overall manufacturing efficiency.</a:t>
            </a:r>
            <a:endParaRPr lang="en-US" sz="2400" dirty="0"/>
          </a:p>
          <a:p>
            <a:pPr marL="342900" indent="-342900">
              <a:buFont typeface="Arial" panose="020B0604020202020204" pitchFamily="34" charset="0"/>
              <a:buChar char="•"/>
            </a:pPr>
            <a:r>
              <a:rPr lang="en-US" sz="2000" b="1" dirty="0"/>
              <a:t>Domain: </a:t>
            </a:r>
            <a:r>
              <a:rPr lang="en-US" sz="2000" dirty="0"/>
              <a:t>Manufacturing </a:t>
            </a:r>
          </a:p>
          <a:p>
            <a:pPr marL="342900" indent="-342900">
              <a:buFont typeface="Arial" panose="020B0604020202020204" pitchFamily="34" charset="0"/>
              <a:buChar char="•"/>
            </a:pPr>
            <a:r>
              <a:rPr lang="en-US" sz="2000" b="1" dirty="0"/>
              <a:t>Business Problem: </a:t>
            </a:r>
            <a:r>
              <a:rPr lang="en-US" sz="2000" dirty="0"/>
              <a:t>High rejected quantity and lack of visibility into production performance across machines, departments and processes.</a:t>
            </a:r>
          </a:p>
          <a:p>
            <a:pPr marL="342900" indent="-342900">
              <a:buFont typeface="Arial" panose="020B0604020202020204" pitchFamily="34" charset="0"/>
              <a:buChar char="•"/>
            </a:pPr>
            <a:r>
              <a:rPr lang="en-US" sz="2000" b="1" dirty="0"/>
              <a:t>Goal: </a:t>
            </a:r>
            <a:r>
              <a:rPr lang="en-US" sz="2000" dirty="0"/>
              <a:t>To analyze manufactured, processed and rejected quantity in order to identify inefficiencies, compare performance and improve overall manufacturing output.</a:t>
            </a:r>
            <a:endParaRPr lang="en-IN" sz="2000" dirty="0"/>
          </a:p>
        </p:txBody>
      </p:sp>
    </p:spTree>
    <p:extLst>
      <p:ext uri="{BB962C8B-B14F-4D97-AF65-F5344CB8AC3E}">
        <p14:creationId xmlns:p14="http://schemas.microsoft.com/office/powerpoint/2010/main" val="1372639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059FD4-F924-4110-4E4D-2E17D25F1970}"/>
              </a:ext>
            </a:extLst>
          </p:cNvPr>
          <p:cNvSpPr txBox="1"/>
          <p:nvPr/>
        </p:nvSpPr>
        <p:spPr>
          <a:xfrm>
            <a:off x="3657600" y="393290"/>
            <a:ext cx="4857135" cy="769441"/>
          </a:xfrm>
          <a:prstGeom prst="rect">
            <a:avLst/>
          </a:prstGeom>
          <a:noFill/>
        </p:spPr>
        <p:txBody>
          <a:bodyPr wrap="square" rtlCol="0">
            <a:spAutoFit/>
          </a:bodyPr>
          <a:lstStyle/>
          <a:p>
            <a:r>
              <a:rPr lang="en-US" sz="4400" b="1" dirty="0"/>
              <a:t>Data Overview</a:t>
            </a:r>
            <a:endParaRPr lang="en-IN" sz="4400" b="1" dirty="0"/>
          </a:p>
        </p:txBody>
      </p:sp>
      <p:sp>
        <p:nvSpPr>
          <p:cNvPr id="3" name="TextBox 2">
            <a:extLst>
              <a:ext uri="{FF2B5EF4-FFF2-40B4-BE49-F238E27FC236}">
                <a16:creationId xmlns:a16="http://schemas.microsoft.com/office/drawing/2014/main" id="{CE4F616C-AB55-A6D0-9FA9-4535AFF7CDBC}"/>
              </a:ext>
            </a:extLst>
          </p:cNvPr>
          <p:cNvSpPr txBox="1"/>
          <p:nvPr/>
        </p:nvSpPr>
        <p:spPr>
          <a:xfrm>
            <a:off x="422787" y="1406013"/>
            <a:ext cx="10962968" cy="3724096"/>
          </a:xfrm>
          <a:prstGeom prst="rect">
            <a:avLst/>
          </a:prstGeom>
          <a:noFill/>
        </p:spPr>
        <p:txBody>
          <a:bodyPr wrap="square" rtlCol="0">
            <a:spAutoFit/>
          </a:bodyPr>
          <a:lstStyle/>
          <a:p>
            <a:r>
              <a:rPr lang="en-US" dirty="0"/>
              <a:t>The dataset contains production-level transactional records with fields including manufactured quantity, processed quantity, rejected quantity, department, machine, operation and employee name, etc. These fields help to calculate operational performance metrics such as wastage %, machine-wise rejection and employee-wise contribution. Aggregations were performed to compute total manufacturing output , total rejected quantity and processed quantity which form the basis for KPI calculation and trend analysis.</a:t>
            </a:r>
          </a:p>
          <a:p>
            <a:pPr marL="285750" indent="-285750">
              <a:buFont typeface="Arial" panose="020B0604020202020204" pitchFamily="34" charset="0"/>
              <a:buChar char="•"/>
            </a:pPr>
            <a:r>
              <a:rPr lang="en-US" b="1" dirty="0"/>
              <a:t>Files: </a:t>
            </a:r>
            <a:r>
              <a:rPr lang="en-US" sz="2000" dirty="0"/>
              <a:t>Manufacturing data.xlsx</a:t>
            </a:r>
          </a:p>
          <a:p>
            <a:pPr marL="285750" indent="-285750">
              <a:buFont typeface="Arial" panose="020B0604020202020204" pitchFamily="34" charset="0"/>
              <a:buChar char="•"/>
            </a:pPr>
            <a:r>
              <a:rPr lang="en-US" b="1" dirty="0"/>
              <a:t>Size: 38 </a:t>
            </a:r>
            <a:r>
              <a:rPr lang="en-US" dirty="0"/>
              <a:t>Columns and </a:t>
            </a:r>
            <a:r>
              <a:rPr lang="en-US" b="1"/>
              <a:t>10561 </a:t>
            </a:r>
            <a:r>
              <a:rPr lang="en-US"/>
              <a:t>Rows.</a:t>
            </a:r>
            <a:endParaRPr lang="en-US" b="1"/>
          </a:p>
          <a:p>
            <a:pPr marL="285750" indent="-285750">
              <a:buFont typeface="Arial" panose="020B0604020202020204" pitchFamily="34" charset="0"/>
              <a:buChar char="•"/>
            </a:pPr>
            <a:r>
              <a:rPr lang="en-US" b="1" dirty="0"/>
              <a:t>Key Columns: </a:t>
            </a:r>
            <a:r>
              <a:rPr lang="en-US" dirty="0"/>
              <a:t>Department Name, Document Date, Employee Code, Employee Name, Item Code, Item Name, Machine Code, Machine Name, Manufactured Quantity, Processed Quantity, Rejected Quantity, Balance Quantity, Fiscal Date, Fiscal Time, Form Type</a:t>
            </a:r>
          </a:p>
          <a:p>
            <a:pPr marL="285750" indent="-285750">
              <a:buFont typeface="Arial" panose="020B0604020202020204" pitchFamily="34" charset="0"/>
              <a:buChar char="•"/>
            </a:pPr>
            <a:r>
              <a:rPr lang="en-US" b="1" dirty="0"/>
              <a:t>Aggregations Used</a:t>
            </a:r>
            <a:r>
              <a:rPr lang="en-US" dirty="0"/>
              <a:t>: Total Manufactured Quantity, Total Processed Quantity, Total Rejected Quantity,  ,Department-wise Rejection %, Machine-wise Rejection Sum, Employee-wise Rejected Items, Production Trend</a:t>
            </a:r>
          </a:p>
          <a:p>
            <a:endParaRPr lang="en-IN" dirty="0"/>
          </a:p>
        </p:txBody>
      </p:sp>
    </p:spTree>
    <p:extLst>
      <p:ext uri="{BB962C8B-B14F-4D97-AF65-F5344CB8AC3E}">
        <p14:creationId xmlns:p14="http://schemas.microsoft.com/office/powerpoint/2010/main" val="3569750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DC5F70-B69D-818E-200B-1D6A200CDE40}"/>
              </a:ext>
            </a:extLst>
          </p:cNvPr>
          <p:cNvSpPr txBox="1"/>
          <p:nvPr/>
        </p:nvSpPr>
        <p:spPr>
          <a:xfrm>
            <a:off x="4139382" y="294968"/>
            <a:ext cx="3519948" cy="646331"/>
          </a:xfrm>
          <a:prstGeom prst="rect">
            <a:avLst/>
          </a:prstGeom>
          <a:noFill/>
        </p:spPr>
        <p:txBody>
          <a:bodyPr wrap="square" rtlCol="0">
            <a:spAutoFit/>
          </a:bodyPr>
          <a:lstStyle/>
          <a:p>
            <a:r>
              <a:rPr lang="en-US" sz="3600" b="1" dirty="0"/>
              <a:t>Objective/KPI</a:t>
            </a:r>
            <a:endParaRPr lang="en-IN" sz="3600" b="1" dirty="0"/>
          </a:p>
        </p:txBody>
      </p:sp>
      <p:sp>
        <p:nvSpPr>
          <p:cNvPr id="3" name="TextBox 2">
            <a:extLst>
              <a:ext uri="{FF2B5EF4-FFF2-40B4-BE49-F238E27FC236}">
                <a16:creationId xmlns:a16="http://schemas.microsoft.com/office/drawing/2014/main" id="{42D8CC85-0CA6-01BC-58A6-90E4D52949AC}"/>
              </a:ext>
            </a:extLst>
          </p:cNvPr>
          <p:cNvSpPr txBox="1"/>
          <p:nvPr/>
        </p:nvSpPr>
        <p:spPr>
          <a:xfrm>
            <a:off x="521110" y="1081548"/>
            <a:ext cx="10697496" cy="3970318"/>
          </a:xfrm>
          <a:prstGeom prst="rect">
            <a:avLst/>
          </a:prstGeom>
          <a:noFill/>
        </p:spPr>
        <p:txBody>
          <a:bodyPr wrap="square" rtlCol="0">
            <a:spAutoFit/>
          </a:bodyPr>
          <a:lstStyle/>
          <a:p>
            <a:r>
              <a:rPr lang="en-US" b="1" dirty="0"/>
              <a:t>Objective: </a:t>
            </a:r>
            <a:r>
              <a:rPr lang="en-US" dirty="0"/>
              <a:t>The objective of this dashboard is to monitor the overall manufacturing output and rejection, identify the machines and departments responsible for higher rejection, and analyze monthly production trends for better decision making. It also aims to evaluate employee-level contribution in rejection and ultimately minimize waste while improving overall operational efficiency</a:t>
            </a:r>
          </a:p>
          <a:p>
            <a:r>
              <a:rPr lang="en-US" b="1" dirty="0"/>
              <a:t>KPI Used:</a:t>
            </a:r>
          </a:p>
          <a:p>
            <a:pPr marL="285750" indent="-285750">
              <a:buFont typeface="Wingdings" panose="05000000000000000000" pitchFamily="2" charset="2"/>
              <a:buChar char="ü"/>
            </a:pPr>
            <a:r>
              <a:rPr lang="en-IN" dirty="0"/>
              <a:t>Total Manufactured Quantity</a:t>
            </a:r>
          </a:p>
          <a:p>
            <a:pPr marL="285750" indent="-285750">
              <a:buFont typeface="Wingdings" panose="05000000000000000000" pitchFamily="2" charset="2"/>
              <a:buChar char="ü"/>
            </a:pPr>
            <a:r>
              <a:rPr lang="en-IN" dirty="0"/>
              <a:t>Total Processed Quantity</a:t>
            </a:r>
          </a:p>
          <a:p>
            <a:pPr marL="285750" indent="-285750">
              <a:buFont typeface="Wingdings" panose="05000000000000000000" pitchFamily="2" charset="2"/>
              <a:buChar char="ü"/>
            </a:pPr>
            <a:r>
              <a:rPr lang="en-IN" dirty="0"/>
              <a:t>Total Rejected Quantity</a:t>
            </a:r>
          </a:p>
          <a:p>
            <a:pPr marL="285750" indent="-285750">
              <a:buFont typeface="Wingdings" panose="05000000000000000000" pitchFamily="2" charset="2"/>
              <a:buChar char="ü"/>
            </a:pPr>
            <a:r>
              <a:rPr lang="en-IN" dirty="0"/>
              <a:t>Wastage %</a:t>
            </a:r>
          </a:p>
          <a:p>
            <a:pPr marL="285750" indent="-285750">
              <a:buFont typeface="Wingdings" panose="05000000000000000000" pitchFamily="2" charset="2"/>
              <a:buChar char="ü"/>
            </a:pPr>
            <a:r>
              <a:rPr lang="en-IN" dirty="0"/>
              <a:t>Manufactured VS Rejected</a:t>
            </a:r>
          </a:p>
          <a:p>
            <a:pPr marL="285750" indent="-285750">
              <a:buFont typeface="Wingdings" panose="05000000000000000000" pitchFamily="2" charset="2"/>
              <a:buChar char="ü"/>
            </a:pPr>
            <a:r>
              <a:rPr lang="en-IN" dirty="0"/>
              <a:t>Department-wise Manufactured VS Rejected</a:t>
            </a:r>
          </a:p>
          <a:p>
            <a:pPr marL="285750" indent="-285750">
              <a:buFont typeface="Wingdings" panose="05000000000000000000" pitchFamily="2" charset="2"/>
              <a:buChar char="ü"/>
            </a:pPr>
            <a:r>
              <a:rPr lang="en-IN" dirty="0"/>
              <a:t>Employee-wise Rejection</a:t>
            </a:r>
          </a:p>
          <a:p>
            <a:pPr marL="285750" indent="-285750">
              <a:buFont typeface="Wingdings" panose="05000000000000000000" pitchFamily="2" charset="2"/>
              <a:buChar char="ü"/>
            </a:pPr>
            <a:r>
              <a:rPr lang="en-IN" dirty="0"/>
              <a:t>Production Comparison Trend</a:t>
            </a:r>
          </a:p>
          <a:p>
            <a:pPr marL="285750" indent="-285750">
              <a:buFont typeface="Wingdings" panose="05000000000000000000" pitchFamily="2" charset="2"/>
              <a:buChar char="ü"/>
            </a:pPr>
            <a:r>
              <a:rPr lang="en-IN" dirty="0"/>
              <a:t>Machine Wise Rejected Quantity</a:t>
            </a:r>
          </a:p>
        </p:txBody>
      </p:sp>
    </p:spTree>
    <p:extLst>
      <p:ext uri="{BB962C8B-B14F-4D97-AF65-F5344CB8AC3E}">
        <p14:creationId xmlns:p14="http://schemas.microsoft.com/office/powerpoint/2010/main" val="2593142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4AB4E7-C2D4-BEFB-ACE1-69F682A86DCE}"/>
              </a:ext>
            </a:extLst>
          </p:cNvPr>
          <p:cNvSpPr txBox="1"/>
          <p:nvPr/>
        </p:nvSpPr>
        <p:spPr>
          <a:xfrm>
            <a:off x="4955457" y="432620"/>
            <a:ext cx="2635045" cy="850662"/>
          </a:xfrm>
          <a:prstGeom prst="rect">
            <a:avLst/>
          </a:prstGeom>
          <a:noFill/>
        </p:spPr>
        <p:txBody>
          <a:bodyPr wrap="square" rtlCol="0">
            <a:spAutoFit/>
          </a:bodyPr>
          <a:lstStyle/>
          <a:p>
            <a:r>
              <a:rPr lang="en-US" sz="4800" b="1" dirty="0"/>
              <a:t>Process</a:t>
            </a:r>
            <a:endParaRPr lang="en-IN" sz="4800" b="1" dirty="0"/>
          </a:p>
        </p:txBody>
      </p:sp>
      <p:sp>
        <p:nvSpPr>
          <p:cNvPr id="4" name="TextBox 3">
            <a:extLst>
              <a:ext uri="{FF2B5EF4-FFF2-40B4-BE49-F238E27FC236}">
                <a16:creationId xmlns:a16="http://schemas.microsoft.com/office/drawing/2014/main" id="{7BA9D233-20DB-CE19-EDF2-D3A7E06FEF33}"/>
              </a:ext>
            </a:extLst>
          </p:cNvPr>
          <p:cNvSpPr txBox="1"/>
          <p:nvPr/>
        </p:nvSpPr>
        <p:spPr>
          <a:xfrm>
            <a:off x="698090" y="1622323"/>
            <a:ext cx="10668000" cy="5355312"/>
          </a:xfrm>
          <a:prstGeom prst="rect">
            <a:avLst/>
          </a:prstGeom>
          <a:noFill/>
        </p:spPr>
        <p:txBody>
          <a:bodyPr wrap="square" rtlCol="0">
            <a:spAutoFit/>
          </a:bodyPr>
          <a:lstStyle/>
          <a:p>
            <a:pPr marL="285750" indent="-285750">
              <a:buFont typeface="Arial" panose="020B0604020202020204" pitchFamily="34" charset="0"/>
              <a:buChar char="•"/>
            </a:pPr>
            <a:r>
              <a:rPr lang="en-US" b="1" dirty="0"/>
              <a:t>Data Collection :  </a:t>
            </a:r>
            <a:r>
              <a:rPr lang="en-US" dirty="0"/>
              <a:t>Collected production-related data including manufactured, processed, and rejected quantity along with machine, department, operation, and employee details.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Data Cleaning &amp; Preprocessing :</a:t>
            </a:r>
          </a:p>
          <a:p>
            <a:pPr marL="285750" indent="-285750">
              <a:buFont typeface="Wingdings" panose="05000000000000000000" pitchFamily="2" charset="2"/>
              <a:buChar char="ü"/>
            </a:pPr>
            <a:r>
              <a:rPr lang="en-US" b="1" dirty="0"/>
              <a:t> </a:t>
            </a:r>
            <a:r>
              <a:rPr lang="en-US" dirty="0"/>
              <a:t>Checked for missing or duplicate values.</a:t>
            </a:r>
          </a:p>
          <a:p>
            <a:pPr marL="285750" indent="-285750">
              <a:buFont typeface="Wingdings" panose="05000000000000000000" pitchFamily="2" charset="2"/>
              <a:buChar char="ü"/>
            </a:pPr>
            <a:r>
              <a:rPr lang="en-US" dirty="0"/>
              <a:t> Corrected inconsistent entries (e.g., machine names, work center modes).</a:t>
            </a:r>
          </a:p>
          <a:p>
            <a:pPr marL="285750" indent="-285750">
              <a:buFont typeface="Wingdings" panose="05000000000000000000" pitchFamily="2" charset="2"/>
              <a:buChar char="ü"/>
            </a:pPr>
            <a:r>
              <a:rPr lang="en-US" dirty="0"/>
              <a:t> Formatted date-time columns for trend analysis. </a:t>
            </a:r>
          </a:p>
          <a:p>
            <a:endParaRPr lang="en-US" dirty="0"/>
          </a:p>
          <a:p>
            <a:pPr marL="285750" indent="-285750">
              <a:buFont typeface="Arial" panose="020B0604020202020204" pitchFamily="34" charset="0"/>
              <a:buChar char="•"/>
            </a:pPr>
            <a:r>
              <a:rPr lang="en-US" b="1" dirty="0"/>
              <a:t>Data Aggregation: </a:t>
            </a:r>
            <a:r>
              <a:rPr lang="en-US" dirty="0"/>
              <a:t>Aggregated metrics like total manufactured, processed, and rejected quantity, </a:t>
            </a:r>
          </a:p>
          <a:p>
            <a:r>
              <a:rPr lang="en-US" dirty="0"/>
              <a:t>    Computed department-wise, machine-wise, and employee-wise summaries.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Dashboard Development : </a:t>
            </a:r>
          </a:p>
          <a:p>
            <a:pPr marL="285750" indent="-285750">
              <a:buFont typeface="Wingdings" panose="05000000000000000000" pitchFamily="2" charset="2"/>
              <a:buChar char="v"/>
            </a:pPr>
            <a:r>
              <a:rPr lang="en-US" b="1" dirty="0"/>
              <a:t> Excel Dashboard:  </a:t>
            </a:r>
            <a:r>
              <a:rPr lang="en-US" dirty="0"/>
              <a:t>Quick KPI table and pivot charts .</a:t>
            </a:r>
            <a:r>
              <a:rPr lang="en-US" b="1" dirty="0"/>
              <a:t> </a:t>
            </a:r>
          </a:p>
          <a:p>
            <a:pPr marL="342900" indent="-342900">
              <a:buFont typeface="Wingdings" panose="05000000000000000000" pitchFamily="2" charset="2"/>
              <a:buChar char="v"/>
            </a:pPr>
            <a:r>
              <a:rPr lang="en-US" b="1" dirty="0"/>
              <a:t>Tableau Dashboard:  </a:t>
            </a:r>
            <a:r>
              <a:rPr lang="en-US" dirty="0"/>
              <a:t>Trend analysis and comparative visualizations</a:t>
            </a:r>
          </a:p>
          <a:p>
            <a:pPr marL="342900" indent="-342900">
              <a:buFont typeface="Wingdings" panose="05000000000000000000" pitchFamily="2" charset="2"/>
              <a:buChar char="v"/>
            </a:pPr>
            <a:r>
              <a:rPr lang="en-US" b="1" dirty="0"/>
              <a:t>Power BI Dashboard:  </a:t>
            </a:r>
            <a:r>
              <a:rPr lang="en-US" dirty="0"/>
              <a:t>Interactive charts with slicers for department, machine, and operation</a:t>
            </a:r>
          </a:p>
          <a:p>
            <a:pPr marL="342900" indent="-342900">
              <a:buFont typeface="Wingdings" panose="05000000000000000000" pitchFamily="2" charset="2"/>
              <a:buChar char="v"/>
            </a:pPr>
            <a:endParaRPr lang="en-US" dirty="0"/>
          </a:p>
          <a:p>
            <a:endParaRPr lang="en-US" dirty="0"/>
          </a:p>
          <a:p>
            <a:endParaRPr lang="en-US" dirty="0"/>
          </a:p>
          <a:p>
            <a:endParaRPr lang="en-IN" dirty="0"/>
          </a:p>
        </p:txBody>
      </p:sp>
    </p:spTree>
    <p:extLst>
      <p:ext uri="{BB962C8B-B14F-4D97-AF65-F5344CB8AC3E}">
        <p14:creationId xmlns:p14="http://schemas.microsoft.com/office/powerpoint/2010/main" val="2381917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84A1D7-8D36-5C2A-ACF3-969EE115490D}"/>
              </a:ext>
            </a:extLst>
          </p:cNvPr>
          <p:cNvSpPr txBox="1"/>
          <p:nvPr/>
        </p:nvSpPr>
        <p:spPr>
          <a:xfrm>
            <a:off x="757084" y="855406"/>
            <a:ext cx="9625781"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Insight Generation:</a:t>
            </a:r>
          </a:p>
          <a:p>
            <a:pPr marL="285750" indent="-285750">
              <a:buFont typeface="Wingdings" panose="05000000000000000000" pitchFamily="2" charset="2"/>
              <a:buChar char="ü"/>
            </a:pPr>
            <a:r>
              <a:rPr lang="en-US" b="1" dirty="0"/>
              <a:t>  </a:t>
            </a:r>
            <a:r>
              <a:rPr lang="en-US" dirty="0" err="1"/>
              <a:t>Analysed</a:t>
            </a:r>
            <a:r>
              <a:rPr lang="en-US" dirty="0"/>
              <a:t> production vs rejection. </a:t>
            </a:r>
          </a:p>
          <a:p>
            <a:pPr marL="285750" indent="-285750">
              <a:buFont typeface="Wingdings" panose="05000000000000000000" pitchFamily="2" charset="2"/>
              <a:buChar char="ü"/>
            </a:pPr>
            <a:r>
              <a:rPr lang="en-US" dirty="0"/>
              <a:t>  Identified high rejection machines and departments. </a:t>
            </a:r>
          </a:p>
          <a:p>
            <a:pPr marL="285750" indent="-285750">
              <a:buFont typeface="Wingdings" panose="05000000000000000000" pitchFamily="2" charset="2"/>
              <a:buChar char="ü"/>
            </a:pPr>
            <a:r>
              <a:rPr lang="en-US" dirty="0"/>
              <a:t>  Monitored employee-wise rejected quantity and trends.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Decision Support:  </a:t>
            </a:r>
          </a:p>
          <a:p>
            <a:pPr marL="285750" indent="-285750">
              <a:buFont typeface="Wingdings" panose="05000000000000000000" pitchFamily="2" charset="2"/>
              <a:buChar char="ü"/>
            </a:pPr>
            <a:r>
              <a:rPr lang="en-US" dirty="0"/>
              <a:t>  Recommended process improvements based on dashboard insights.</a:t>
            </a:r>
          </a:p>
          <a:p>
            <a:pPr marL="285750" indent="-285750">
              <a:buFont typeface="Wingdings" panose="05000000000000000000" pitchFamily="2" charset="2"/>
              <a:buChar char="ü"/>
            </a:pPr>
            <a:r>
              <a:rPr lang="en-US" dirty="0"/>
              <a:t>  Highlighted areas for reducing rejection and improving efficiency.</a:t>
            </a:r>
          </a:p>
          <a:p>
            <a:pPr marL="285750" indent="-285750">
              <a:buFont typeface="Wingdings" panose="05000000000000000000" pitchFamily="2" charset="2"/>
              <a:buChar char="ü"/>
            </a:pPr>
            <a:endParaRPr lang="en-US" dirty="0"/>
          </a:p>
          <a:p>
            <a:endParaRPr lang="en-US" dirty="0"/>
          </a:p>
          <a:p>
            <a:endParaRPr lang="en-US" dirty="0"/>
          </a:p>
          <a:p>
            <a:endParaRPr lang="en-IN" dirty="0"/>
          </a:p>
        </p:txBody>
      </p:sp>
    </p:spTree>
    <p:extLst>
      <p:ext uri="{BB962C8B-B14F-4D97-AF65-F5344CB8AC3E}">
        <p14:creationId xmlns:p14="http://schemas.microsoft.com/office/powerpoint/2010/main" val="2702162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9E0829-CBFA-4F80-F63C-43A7795E932C}"/>
              </a:ext>
            </a:extLst>
          </p:cNvPr>
          <p:cNvSpPr txBox="1"/>
          <p:nvPr/>
        </p:nvSpPr>
        <p:spPr>
          <a:xfrm>
            <a:off x="4414684" y="412956"/>
            <a:ext cx="2477729" cy="769441"/>
          </a:xfrm>
          <a:prstGeom prst="rect">
            <a:avLst/>
          </a:prstGeom>
          <a:noFill/>
        </p:spPr>
        <p:txBody>
          <a:bodyPr wrap="square" rtlCol="0">
            <a:spAutoFit/>
          </a:bodyPr>
          <a:lstStyle/>
          <a:p>
            <a:r>
              <a:rPr lang="en-US" sz="4400" b="1" dirty="0"/>
              <a:t>Analysis</a:t>
            </a:r>
            <a:endParaRPr lang="en-IN" sz="4400" b="1" dirty="0"/>
          </a:p>
        </p:txBody>
      </p:sp>
      <p:pic>
        <p:nvPicPr>
          <p:cNvPr id="4" name="Picture 3">
            <a:extLst>
              <a:ext uri="{FF2B5EF4-FFF2-40B4-BE49-F238E27FC236}">
                <a16:creationId xmlns:a16="http://schemas.microsoft.com/office/drawing/2014/main" id="{528F48C9-29CC-650C-F9CB-9C4325FFF594}"/>
              </a:ext>
            </a:extLst>
          </p:cNvPr>
          <p:cNvPicPr>
            <a:picLocks noChangeAspect="1"/>
          </p:cNvPicPr>
          <p:nvPr/>
        </p:nvPicPr>
        <p:blipFill rotWithShape="1">
          <a:blip r:embed="rId2">
            <a:extLst>
              <a:ext uri="{28A0092B-C50C-407E-A947-70E740481C1C}">
                <a14:useLocalDpi xmlns:a14="http://schemas.microsoft.com/office/drawing/2010/main" val="0"/>
              </a:ext>
            </a:extLst>
          </a:blip>
          <a:srcRect l="-1629" t="8054" r="38167" b="74622"/>
          <a:stretch>
            <a:fillRect/>
          </a:stretch>
        </p:blipFill>
        <p:spPr>
          <a:xfrm>
            <a:off x="6183085" y="1769357"/>
            <a:ext cx="5772939" cy="1258528"/>
          </a:xfrm>
          <a:prstGeom prst="rect">
            <a:avLst/>
          </a:prstGeom>
          <a:ln w="25400">
            <a:solidFill>
              <a:schemeClr val="tx1"/>
            </a:solidFill>
            <a:prstDash val="solid"/>
          </a:ln>
          <a:effectLst>
            <a:softEdge rad="0"/>
          </a:effectLst>
        </p:spPr>
      </p:pic>
      <p:sp>
        <p:nvSpPr>
          <p:cNvPr id="5" name="TextBox 4">
            <a:extLst>
              <a:ext uri="{FF2B5EF4-FFF2-40B4-BE49-F238E27FC236}">
                <a16:creationId xmlns:a16="http://schemas.microsoft.com/office/drawing/2014/main" id="{D242390D-E61E-6410-1DBF-DEF7A36798FC}"/>
              </a:ext>
            </a:extLst>
          </p:cNvPr>
          <p:cNvSpPr txBox="1"/>
          <p:nvPr/>
        </p:nvSpPr>
        <p:spPr>
          <a:xfrm>
            <a:off x="314633" y="1307691"/>
            <a:ext cx="1789470"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a:t>KPI Titles</a:t>
            </a:r>
            <a:endParaRPr lang="en-IN" b="1" dirty="0"/>
          </a:p>
        </p:txBody>
      </p:sp>
      <p:sp>
        <p:nvSpPr>
          <p:cNvPr id="8" name="TextBox 7">
            <a:extLst>
              <a:ext uri="{FF2B5EF4-FFF2-40B4-BE49-F238E27FC236}">
                <a16:creationId xmlns:a16="http://schemas.microsoft.com/office/drawing/2014/main" id="{E4704CF3-A638-A2A7-9964-1C4ADB30B068}"/>
              </a:ext>
            </a:extLst>
          </p:cNvPr>
          <p:cNvSpPr txBox="1"/>
          <p:nvPr/>
        </p:nvSpPr>
        <p:spPr>
          <a:xfrm>
            <a:off x="235975" y="1769357"/>
            <a:ext cx="4630994" cy="1754326"/>
          </a:xfrm>
          <a:prstGeom prst="rect">
            <a:avLst/>
          </a:prstGeom>
          <a:noFill/>
        </p:spPr>
        <p:txBody>
          <a:bodyPr wrap="square" rtlCol="0">
            <a:spAutoFit/>
          </a:bodyPr>
          <a:lstStyle/>
          <a:p>
            <a:r>
              <a:rPr lang="en-US" b="1" dirty="0"/>
              <a:t>Insights</a:t>
            </a:r>
          </a:p>
          <a:p>
            <a:pPr marL="285750" indent="-285750">
              <a:buFont typeface="Wingdings" panose="05000000000000000000" pitchFamily="2" charset="2"/>
              <a:buChar char="§"/>
            </a:pPr>
            <a:r>
              <a:rPr lang="en-US" dirty="0"/>
              <a:t>Total rejection compared to produced is very low</a:t>
            </a:r>
          </a:p>
          <a:p>
            <a:pPr marL="285750" indent="-285750">
              <a:buFont typeface="Wingdings" panose="05000000000000000000" pitchFamily="2" charset="2"/>
              <a:buChar char="§"/>
            </a:pPr>
            <a:r>
              <a:rPr lang="en-US" dirty="0"/>
              <a:t>Processed Quantity output is close to manufacturing Quantity.</a:t>
            </a:r>
          </a:p>
          <a:p>
            <a:pPr marL="285750" indent="-285750">
              <a:buFont typeface="Wingdings" panose="05000000000000000000" pitchFamily="2" charset="2"/>
              <a:buChar char="§"/>
            </a:pPr>
            <a:r>
              <a:rPr lang="en-US" dirty="0"/>
              <a:t>Wastage % indicates good quality control</a:t>
            </a:r>
            <a:endParaRPr lang="en-IN" dirty="0"/>
          </a:p>
        </p:txBody>
      </p:sp>
      <p:pic>
        <p:nvPicPr>
          <p:cNvPr id="9" name="Picture 8">
            <a:extLst>
              <a:ext uri="{FF2B5EF4-FFF2-40B4-BE49-F238E27FC236}">
                <a16:creationId xmlns:a16="http://schemas.microsoft.com/office/drawing/2014/main" id="{85D62FD0-8B05-A032-73EC-B06D63DFF08D}"/>
              </a:ext>
            </a:extLst>
          </p:cNvPr>
          <p:cNvPicPr>
            <a:picLocks noChangeAspect="1"/>
          </p:cNvPicPr>
          <p:nvPr/>
        </p:nvPicPr>
        <p:blipFill>
          <a:blip r:embed="rId2">
            <a:extLst>
              <a:ext uri="{28A0092B-C50C-407E-A947-70E740481C1C}">
                <a14:useLocalDpi xmlns:a14="http://schemas.microsoft.com/office/drawing/2010/main" val="0"/>
              </a:ext>
            </a:extLst>
          </a:blip>
          <a:srcRect l="444" t="25429" r="61757" b="39519"/>
          <a:stretch>
            <a:fillRect/>
          </a:stretch>
        </p:blipFill>
        <p:spPr>
          <a:xfrm>
            <a:off x="6183085" y="3428609"/>
            <a:ext cx="5733600" cy="2159362"/>
          </a:xfrm>
          <a:prstGeom prst="rect">
            <a:avLst/>
          </a:prstGeom>
          <a:ln w="25400">
            <a:solidFill>
              <a:schemeClr val="tx1"/>
            </a:solidFill>
            <a:prstDash val="solid"/>
          </a:ln>
          <a:effectLst>
            <a:softEdge rad="0"/>
          </a:effectLst>
        </p:spPr>
      </p:pic>
      <p:sp>
        <p:nvSpPr>
          <p:cNvPr id="10" name="TextBox 9">
            <a:extLst>
              <a:ext uri="{FF2B5EF4-FFF2-40B4-BE49-F238E27FC236}">
                <a16:creationId xmlns:a16="http://schemas.microsoft.com/office/drawing/2014/main" id="{A78D7D47-83DB-DC25-0B18-3AF15EB88F80}"/>
              </a:ext>
            </a:extLst>
          </p:cNvPr>
          <p:cNvSpPr txBox="1"/>
          <p:nvPr/>
        </p:nvSpPr>
        <p:spPr>
          <a:xfrm>
            <a:off x="314633" y="3741311"/>
            <a:ext cx="4188541"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a:t>Manufactured VS Rejected </a:t>
            </a:r>
            <a:endParaRPr lang="en-IN" b="1" dirty="0"/>
          </a:p>
        </p:txBody>
      </p:sp>
      <p:sp>
        <p:nvSpPr>
          <p:cNvPr id="11" name="TextBox 10">
            <a:extLst>
              <a:ext uri="{FF2B5EF4-FFF2-40B4-BE49-F238E27FC236}">
                <a16:creationId xmlns:a16="http://schemas.microsoft.com/office/drawing/2014/main" id="{A9490519-D2D1-F1D5-5BCC-C6C519550238}"/>
              </a:ext>
            </a:extLst>
          </p:cNvPr>
          <p:cNvSpPr txBox="1"/>
          <p:nvPr/>
        </p:nvSpPr>
        <p:spPr>
          <a:xfrm>
            <a:off x="275315" y="4110643"/>
            <a:ext cx="5820685" cy="1477328"/>
          </a:xfrm>
          <a:prstGeom prst="rect">
            <a:avLst/>
          </a:prstGeom>
          <a:noFill/>
        </p:spPr>
        <p:txBody>
          <a:bodyPr wrap="square" rtlCol="0">
            <a:spAutoFit/>
          </a:bodyPr>
          <a:lstStyle/>
          <a:p>
            <a:r>
              <a:rPr lang="en-US" b="1" dirty="0"/>
              <a:t>Insights</a:t>
            </a:r>
          </a:p>
          <a:p>
            <a:pPr marL="285750" indent="-285750">
              <a:buFont typeface="Wingdings" panose="05000000000000000000" pitchFamily="2" charset="2"/>
              <a:buChar char="§"/>
            </a:pPr>
            <a:r>
              <a:rPr lang="en-US" dirty="0"/>
              <a:t>Overall manufactured quantity is much higher compared to rejected quantity</a:t>
            </a:r>
          </a:p>
          <a:p>
            <a:pPr marL="285750" indent="-285750">
              <a:buFont typeface="Wingdings" panose="05000000000000000000" pitchFamily="2" charset="2"/>
              <a:buChar char="§"/>
            </a:pPr>
            <a:r>
              <a:rPr lang="en-US" dirty="0"/>
              <a:t>Rejection remains consistently low across production batches.</a:t>
            </a:r>
            <a:endParaRPr lang="en-IN" dirty="0"/>
          </a:p>
        </p:txBody>
      </p:sp>
    </p:spTree>
    <p:extLst>
      <p:ext uri="{BB962C8B-B14F-4D97-AF65-F5344CB8AC3E}">
        <p14:creationId xmlns:p14="http://schemas.microsoft.com/office/powerpoint/2010/main" val="2875593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7A1FC4-40D0-0C97-0857-21309048A0B9}"/>
              </a:ext>
            </a:extLst>
          </p:cNvPr>
          <p:cNvSpPr txBox="1"/>
          <p:nvPr/>
        </p:nvSpPr>
        <p:spPr>
          <a:xfrm>
            <a:off x="619432" y="383458"/>
            <a:ext cx="5250426" cy="369332"/>
          </a:xfrm>
          <a:prstGeom prst="rect">
            <a:avLst/>
          </a:prstGeom>
          <a:noFill/>
        </p:spPr>
        <p:txBody>
          <a:bodyPr wrap="square" rtlCol="0">
            <a:spAutoFit/>
          </a:bodyPr>
          <a:lstStyle/>
          <a:p>
            <a:pPr marL="285750" indent="-285750">
              <a:buFont typeface="Wingdings" panose="05000000000000000000" pitchFamily="2" charset="2"/>
              <a:buChar char="q"/>
            </a:pPr>
            <a:r>
              <a:rPr lang="en-IN" b="1" dirty="0"/>
              <a:t>Department-wise Manufactured vs Rejected</a:t>
            </a:r>
          </a:p>
        </p:txBody>
      </p:sp>
      <p:pic>
        <p:nvPicPr>
          <p:cNvPr id="6" name="Picture 5">
            <a:extLst>
              <a:ext uri="{FF2B5EF4-FFF2-40B4-BE49-F238E27FC236}">
                <a16:creationId xmlns:a16="http://schemas.microsoft.com/office/drawing/2014/main" id="{6F1E9877-8048-F2C5-52F8-416BC24294DD}"/>
              </a:ext>
            </a:extLst>
          </p:cNvPr>
          <p:cNvPicPr>
            <a:picLocks noChangeAspect="1"/>
          </p:cNvPicPr>
          <p:nvPr/>
        </p:nvPicPr>
        <p:blipFill>
          <a:blip r:embed="rId2">
            <a:extLst>
              <a:ext uri="{28A0092B-C50C-407E-A947-70E740481C1C}">
                <a14:useLocalDpi xmlns:a14="http://schemas.microsoft.com/office/drawing/2010/main" val="0"/>
              </a:ext>
            </a:extLst>
          </a:blip>
          <a:srcRect l="37823" t="25690" r="26774" b="39537"/>
          <a:stretch>
            <a:fillRect/>
          </a:stretch>
        </p:blipFill>
        <p:spPr>
          <a:xfrm>
            <a:off x="747251" y="853162"/>
            <a:ext cx="4087169" cy="2235569"/>
          </a:xfrm>
          <a:prstGeom prst="rect">
            <a:avLst/>
          </a:prstGeom>
          <a:ln w="25400">
            <a:solidFill>
              <a:schemeClr val="tx1"/>
            </a:solidFill>
            <a:prstDash val="solid"/>
          </a:ln>
          <a:effectLst>
            <a:softEdge rad="0"/>
          </a:effectLst>
        </p:spPr>
      </p:pic>
      <p:sp>
        <p:nvSpPr>
          <p:cNvPr id="7" name="TextBox 6">
            <a:extLst>
              <a:ext uri="{FF2B5EF4-FFF2-40B4-BE49-F238E27FC236}">
                <a16:creationId xmlns:a16="http://schemas.microsoft.com/office/drawing/2014/main" id="{5888DDAF-CB85-C7FD-D12E-C0B4A2020BC6}"/>
              </a:ext>
            </a:extLst>
          </p:cNvPr>
          <p:cNvSpPr txBox="1"/>
          <p:nvPr/>
        </p:nvSpPr>
        <p:spPr>
          <a:xfrm>
            <a:off x="5869858" y="853162"/>
            <a:ext cx="5260258" cy="1477328"/>
          </a:xfrm>
          <a:prstGeom prst="rect">
            <a:avLst/>
          </a:prstGeom>
          <a:noFill/>
        </p:spPr>
        <p:txBody>
          <a:bodyPr wrap="square" rtlCol="0">
            <a:spAutoFit/>
          </a:bodyPr>
          <a:lstStyle/>
          <a:p>
            <a:r>
              <a:rPr lang="en-US" b="1" dirty="0"/>
              <a:t>Insights :</a:t>
            </a:r>
          </a:p>
          <a:p>
            <a:pPr marL="285750" indent="-285750">
              <a:buFont typeface="Wingdings" panose="05000000000000000000" pitchFamily="2" charset="2"/>
              <a:buChar char="§"/>
            </a:pPr>
            <a:r>
              <a:rPr lang="en-US" dirty="0"/>
              <a:t>Woven labels department contributes most production as well as rejection</a:t>
            </a:r>
          </a:p>
          <a:p>
            <a:pPr marL="285750" indent="-285750">
              <a:buFont typeface="Wingdings" panose="05000000000000000000" pitchFamily="2" charset="2"/>
              <a:buChar char="§"/>
            </a:pPr>
            <a:r>
              <a:rPr lang="en-US" dirty="0"/>
              <a:t>Printed labels show lower output but also lower rejection</a:t>
            </a:r>
            <a:endParaRPr lang="en-IN" dirty="0"/>
          </a:p>
        </p:txBody>
      </p:sp>
      <p:pic>
        <p:nvPicPr>
          <p:cNvPr id="9" name="Picture 8">
            <a:extLst>
              <a:ext uri="{FF2B5EF4-FFF2-40B4-BE49-F238E27FC236}">
                <a16:creationId xmlns:a16="http://schemas.microsoft.com/office/drawing/2014/main" id="{2564C69D-6809-0428-7A4A-3ECF1058D72D}"/>
              </a:ext>
            </a:extLst>
          </p:cNvPr>
          <p:cNvPicPr>
            <a:picLocks noChangeAspect="1"/>
          </p:cNvPicPr>
          <p:nvPr/>
        </p:nvPicPr>
        <p:blipFill>
          <a:blip r:embed="rId2">
            <a:extLst>
              <a:ext uri="{28A0092B-C50C-407E-A947-70E740481C1C}">
                <a14:useLocalDpi xmlns:a14="http://schemas.microsoft.com/office/drawing/2010/main" val="0"/>
              </a:ext>
            </a:extLst>
          </a:blip>
          <a:srcRect l="72548" t="26290" r="1" b="42061"/>
          <a:stretch>
            <a:fillRect/>
          </a:stretch>
        </p:blipFill>
        <p:spPr>
          <a:xfrm>
            <a:off x="747252" y="3682182"/>
            <a:ext cx="4087168" cy="2235569"/>
          </a:xfrm>
          <a:prstGeom prst="rect">
            <a:avLst/>
          </a:prstGeom>
          <a:ln w="25400">
            <a:solidFill>
              <a:schemeClr val="tx1"/>
            </a:solidFill>
            <a:prstDash val="solid"/>
          </a:ln>
          <a:effectLst>
            <a:softEdge rad="0"/>
          </a:effectLst>
        </p:spPr>
      </p:pic>
      <p:sp>
        <p:nvSpPr>
          <p:cNvPr id="10" name="TextBox 9">
            <a:extLst>
              <a:ext uri="{FF2B5EF4-FFF2-40B4-BE49-F238E27FC236}">
                <a16:creationId xmlns:a16="http://schemas.microsoft.com/office/drawing/2014/main" id="{174E7EE8-7A48-E68C-1760-B04CCC919AF0}"/>
              </a:ext>
            </a:extLst>
          </p:cNvPr>
          <p:cNvSpPr txBox="1"/>
          <p:nvPr/>
        </p:nvSpPr>
        <p:spPr>
          <a:xfrm>
            <a:off x="964492" y="3244334"/>
            <a:ext cx="3652685"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a:t> Employee-wise Rejection</a:t>
            </a:r>
            <a:endParaRPr lang="en-IN" b="1" dirty="0"/>
          </a:p>
        </p:txBody>
      </p:sp>
      <p:sp>
        <p:nvSpPr>
          <p:cNvPr id="11" name="TextBox 10">
            <a:extLst>
              <a:ext uri="{FF2B5EF4-FFF2-40B4-BE49-F238E27FC236}">
                <a16:creationId xmlns:a16="http://schemas.microsoft.com/office/drawing/2014/main" id="{971BCC9D-D31D-479F-1DC9-1CF29098ABF8}"/>
              </a:ext>
            </a:extLst>
          </p:cNvPr>
          <p:cNvSpPr txBox="1"/>
          <p:nvPr/>
        </p:nvSpPr>
        <p:spPr>
          <a:xfrm>
            <a:off x="5869858" y="3682182"/>
            <a:ext cx="5850194" cy="1754326"/>
          </a:xfrm>
          <a:prstGeom prst="rect">
            <a:avLst/>
          </a:prstGeom>
          <a:noFill/>
        </p:spPr>
        <p:txBody>
          <a:bodyPr wrap="square" rtlCol="0">
            <a:spAutoFit/>
          </a:bodyPr>
          <a:lstStyle/>
          <a:p>
            <a:r>
              <a:rPr lang="en-US" b="1" dirty="0"/>
              <a:t>Insights :</a:t>
            </a:r>
          </a:p>
          <a:p>
            <a:pPr marL="285750" indent="-285750">
              <a:buFont typeface="Wingdings" panose="05000000000000000000" pitchFamily="2" charset="2"/>
              <a:buChar char="§"/>
            </a:pPr>
            <a:r>
              <a:rPr lang="en-US" dirty="0"/>
              <a:t>Rejection concentrated mainly on a single employee</a:t>
            </a:r>
          </a:p>
          <a:p>
            <a:pPr marL="285750" indent="-285750">
              <a:buFont typeface="Wingdings" panose="05000000000000000000" pitchFamily="2" charset="2"/>
              <a:buChar char="§"/>
            </a:pPr>
            <a:r>
              <a:rPr lang="en-US" dirty="0"/>
              <a:t>Large gap between first and other employees indicates skill/process variation</a:t>
            </a:r>
          </a:p>
          <a:p>
            <a:pPr marL="285750" indent="-285750">
              <a:buFont typeface="Wingdings" panose="05000000000000000000" pitchFamily="2" charset="2"/>
              <a:buChar char="§"/>
            </a:pPr>
            <a:r>
              <a:rPr lang="en-US" dirty="0"/>
              <a:t>Indicates need for employee-specific training or process monitoring</a:t>
            </a:r>
            <a:endParaRPr lang="en-IN" dirty="0"/>
          </a:p>
        </p:txBody>
      </p:sp>
    </p:spTree>
    <p:extLst>
      <p:ext uri="{BB962C8B-B14F-4D97-AF65-F5344CB8AC3E}">
        <p14:creationId xmlns:p14="http://schemas.microsoft.com/office/powerpoint/2010/main" val="2862698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482B15-3C6D-498E-9C75-462E13988130}"/>
              </a:ext>
            </a:extLst>
          </p:cNvPr>
          <p:cNvPicPr>
            <a:picLocks noChangeAspect="1"/>
          </p:cNvPicPr>
          <p:nvPr/>
        </p:nvPicPr>
        <p:blipFill>
          <a:blip r:embed="rId3">
            <a:extLst>
              <a:ext uri="{28A0092B-C50C-407E-A947-70E740481C1C}">
                <a14:useLocalDpi xmlns:a14="http://schemas.microsoft.com/office/drawing/2010/main" val="0"/>
              </a:ext>
            </a:extLst>
          </a:blip>
          <a:srcRect l="-242" t="60027" r="50001" b="-574"/>
          <a:stretch>
            <a:fillRect/>
          </a:stretch>
        </p:blipFill>
        <p:spPr>
          <a:xfrm>
            <a:off x="550954" y="709407"/>
            <a:ext cx="5348401" cy="2373087"/>
          </a:xfrm>
          <a:prstGeom prst="rect">
            <a:avLst/>
          </a:prstGeom>
          <a:ln w="25400">
            <a:solidFill>
              <a:schemeClr val="tx1"/>
            </a:solidFill>
            <a:prstDash val="solid"/>
          </a:ln>
          <a:effectLst>
            <a:softEdge rad="0"/>
          </a:effectLst>
        </p:spPr>
      </p:pic>
      <p:sp>
        <p:nvSpPr>
          <p:cNvPr id="4" name="TextBox 3">
            <a:extLst>
              <a:ext uri="{FF2B5EF4-FFF2-40B4-BE49-F238E27FC236}">
                <a16:creationId xmlns:a16="http://schemas.microsoft.com/office/drawing/2014/main" id="{A233182B-B5E1-B8CF-9D04-452CC6FF4A96}"/>
              </a:ext>
            </a:extLst>
          </p:cNvPr>
          <p:cNvSpPr txBox="1"/>
          <p:nvPr/>
        </p:nvSpPr>
        <p:spPr>
          <a:xfrm>
            <a:off x="462116" y="261308"/>
            <a:ext cx="4925961"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a:t>Production </a:t>
            </a:r>
            <a:r>
              <a:rPr lang="en-US" b="1" dirty="0" err="1"/>
              <a:t>Comparision</a:t>
            </a:r>
            <a:r>
              <a:rPr lang="en-US" b="1" dirty="0"/>
              <a:t> Trend </a:t>
            </a:r>
            <a:endParaRPr lang="en-IN" b="1" dirty="0"/>
          </a:p>
        </p:txBody>
      </p:sp>
      <p:sp>
        <p:nvSpPr>
          <p:cNvPr id="5" name="TextBox 4">
            <a:extLst>
              <a:ext uri="{FF2B5EF4-FFF2-40B4-BE49-F238E27FC236}">
                <a16:creationId xmlns:a16="http://schemas.microsoft.com/office/drawing/2014/main" id="{D50B2F33-CC2F-95E5-BAED-47088C92BB7D}"/>
              </a:ext>
            </a:extLst>
          </p:cNvPr>
          <p:cNvSpPr txBox="1"/>
          <p:nvPr/>
        </p:nvSpPr>
        <p:spPr>
          <a:xfrm>
            <a:off x="6292645" y="772454"/>
            <a:ext cx="5250426" cy="923330"/>
          </a:xfrm>
          <a:prstGeom prst="rect">
            <a:avLst/>
          </a:prstGeom>
          <a:noFill/>
        </p:spPr>
        <p:txBody>
          <a:bodyPr wrap="square" rtlCol="0">
            <a:spAutoFit/>
          </a:bodyPr>
          <a:lstStyle/>
          <a:p>
            <a:r>
              <a:rPr lang="en-US" b="1" dirty="0"/>
              <a:t>Insights : </a:t>
            </a:r>
          </a:p>
          <a:p>
            <a:pPr marL="285750" indent="-285750">
              <a:buFont typeface="Wingdings" panose="05000000000000000000" pitchFamily="2" charset="2"/>
              <a:buChar char="§"/>
            </a:pPr>
            <a:r>
              <a:rPr lang="en-US" dirty="0"/>
              <a:t>   Trend shows high variation across period.</a:t>
            </a:r>
          </a:p>
          <a:p>
            <a:pPr marL="285750" indent="-285750">
              <a:buFont typeface="Wingdings" panose="05000000000000000000" pitchFamily="2" charset="2"/>
              <a:buChar char="§"/>
            </a:pPr>
            <a:r>
              <a:rPr lang="en-US" dirty="0"/>
              <a:t>   No stable pattern visible.</a:t>
            </a:r>
          </a:p>
        </p:txBody>
      </p:sp>
      <p:sp>
        <p:nvSpPr>
          <p:cNvPr id="6" name="TextBox 5">
            <a:extLst>
              <a:ext uri="{FF2B5EF4-FFF2-40B4-BE49-F238E27FC236}">
                <a16:creationId xmlns:a16="http://schemas.microsoft.com/office/drawing/2014/main" id="{4CCCC2AA-B2C7-DF3B-94FE-349484DFA65C}"/>
              </a:ext>
            </a:extLst>
          </p:cNvPr>
          <p:cNvSpPr txBox="1"/>
          <p:nvPr/>
        </p:nvSpPr>
        <p:spPr>
          <a:xfrm>
            <a:off x="462116" y="3165957"/>
            <a:ext cx="4700171"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a:t>Machine-Wise Rejected Quantity</a:t>
            </a:r>
            <a:endParaRPr lang="en-IN" b="1" dirty="0"/>
          </a:p>
        </p:txBody>
      </p:sp>
      <p:pic>
        <p:nvPicPr>
          <p:cNvPr id="8" name="Picture 7">
            <a:extLst>
              <a:ext uri="{FF2B5EF4-FFF2-40B4-BE49-F238E27FC236}">
                <a16:creationId xmlns:a16="http://schemas.microsoft.com/office/drawing/2014/main" id="{A933F671-8343-1EF5-654F-672AB8DB4EC0}"/>
              </a:ext>
            </a:extLst>
          </p:cNvPr>
          <p:cNvPicPr>
            <a:picLocks noChangeAspect="1"/>
          </p:cNvPicPr>
          <p:nvPr/>
        </p:nvPicPr>
        <p:blipFill>
          <a:blip r:embed="rId3">
            <a:extLst>
              <a:ext uri="{28A0092B-C50C-407E-A947-70E740481C1C}">
                <a14:useLocalDpi xmlns:a14="http://schemas.microsoft.com/office/drawing/2010/main" val="0"/>
              </a:ext>
            </a:extLst>
          </a:blip>
          <a:srcRect l="50000" t="60028" r="726"/>
          <a:stretch>
            <a:fillRect/>
          </a:stretch>
        </p:blipFill>
        <p:spPr>
          <a:xfrm>
            <a:off x="521109" y="3614056"/>
            <a:ext cx="5444262" cy="2373087"/>
          </a:xfrm>
          <a:prstGeom prst="rect">
            <a:avLst/>
          </a:prstGeom>
          <a:ln w="25400">
            <a:solidFill>
              <a:schemeClr val="tx1"/>
            </a:solidFill>
            <a:prstDash val="solid"/>
          </a:ln>
          <a:effectLst>
            <a:softEdge rad="0"/>
          </a:effectLst>
        </p:spPr>
      </p:pic>
      <p:sp>
        <p:nvSpPr>
          <p:cNvPr id="9" name="TextBox 8">
            <a:extLst>
              <a:ext uri="{FF2B5EF4-FFF2-40B4-BE49-F238E27FC236}">
                <a16:creationId xmlns:a16="http://schemas.microsoft.com/office/drawing/2014/main" id="{E30FD1BB-A7ED-D2EE-12FA-71525AA83EA0}"/>
              </a:ext>
            </a:extLst>
          </p:cNvPr>
          <p:cNvSpPr txBox="1"/>
          <p:nvPr/>
        </p:nvSpPr>
        <p:spPr>
          <a:xfrm>
            <a:off x="6620972" y="3470155"/>
            <a:ext cx="5216013" cy="1477328"/>
          </a:xfrm>
          <a:prstGeom prst="rect">
            <a:avLst/>
          </a:prstGeom>
          <a:noFill/>
        </p:spPr>
        <p:txBody>
          <a:bodyPr wrap="square" rtlCol="0">
            <a:spAutoFit/>
          </a:bodyPr>
          <a:lstStyle/>
          <a:p>
            <a:r>
              <a:rPr lang="en-US" b="1" dirty="0"/>
              <a:t>Insights: </a:t>
            </a:r>
          </a:p>
          <a:p>
            <a:pPr marL="285750" indent="-285750">
              <a:buFont typeface="Wingdings" panose="05000000000000000000" pitchFamily="2" charset="2"/>
              <a:buChar char="§"/>
            </a:pPr>
            <a:r>
              <a:rPr lang="en-US" dirty="0"/>
              <a:t>Machine MC025 shows maximum rejection.</a:t>
            </a:r>
          </a:p>
          <a:p>
            <a:pPr marL="285750" indent="-285750">
              <a:buFont typeface="Wingdings" panose="05000000000000000000" pitchFamily="2" charset="2"/>
              <a:buChar char="§"/>
            </a:pPr>
            <a:r>
              <a:rPr lang="en-US" dirty="0"/>
              <a:t>Consistent rejection across 4 machines,</a:t>
            </a:r>
          </a:p>
          <a:p>
            <a:pPr marL="285750" indent="-285750">
              <a:buFont typeface="Wingdings" panose="05000000000000000000" pitchFamily="2" charset="2"/>
              <a:buChar char="§"/>
            </a:pPr>
            <a:r>
              <a:rPr lang="en-US" dirty="0"/>
              <a:t>Improvement required in machine maintenance &amp; setup</a:t>
            </a:r>
            <a:endParaRPr lang="en-IN" dirty="0"/>
          </a:p>
        </p:txBody>
      </p:sp>
    </p:spTree>
    <p:extLst>
      <p:ext uri="{BB962C8B-B14F-4D97-AF65-F5344CB8AC3E}">
        <p14:creationId xmlns:p14="http://schemas.microsoft.com/office/powerpoint/2010/main" val="3042223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DA5D49-B857-0B42-7D53-4F8691E7E550}"/>
              </a:ext>
            </a:extLst>
          </p:cNvPr>
          <p:cNvPicPr>
            <a:picLocks noChangeAspect="1"/>
          </p:cNvPicPr>
          <p:nvPr/>
        </p:nvPicPr>
        <p:blipFill>
          <a:blip r:embed="rId2">
            <a:extLst>
              <a:ext uri="{28A0092B-C50C-407E-A947-70E740481C1C}">
                <a14:useLocalDpi xmlns:a14="http://schemas.microsoft.com/office/drawing/2010/main" val="0"/>
              </a:ext>
            </a:extLst>
          </a:blip>
          <a:srcRect l="60968" t="8042" r="887" b="74147"/>
          <a:stretch>
            <a:fillRect/>
          </a:stretch>
        </p:blipFill>
        <p:spPr>
          <a:xfrm>
            <a:off x="668594" y="1740310"/>
            <a:ext cx="5177035" cy="1264147"/>
          </a:xfrm>
          <a:prstGeom prst="rect">
            <a:avLst/>
          </a:prstGeom>
          <a:ln w="25400">
            <a:solidFill>
              <a:schemeClr val="tx1"/>
            </a:solidFill>
            <a:prstDash val="solid"/>
          </a:ln>
          <a:effectLst>
            <a:softEdge rad="0"/>
          </a:effectLst>
        </p:spPr>
      </p:pic>
      <p:sp>
        <p:nvSpPr>
          <p:cNvPr id="4" name="TextBox 3">
            <a:extLst>
              <a:ext uri="{FF2B5EF4-FFF2-40B4-BE49-F238E27FC236}">
                <a16:creationId xmlns:a16="http://schemas.microsoft.com/office/drawing/2014/main" id="{233BAC8E-84C2-3D4B-D8DE-00BE25FF7777}"/>
              </a:ext>
            </a:extLst>
          </p:cNvPr>
          <p:cNvSpPr txBox="1"/>
          <p:nvPr/>
        </p:nvSpPr>
        <p:spPr>
          <a:xfrm>
            <a:off x="668594" y="629264"/>
            <a:ext cx="2576051" cy="461665"/>
          </a:xfrm>
          <a:prstGeom prst="rect">
            <a:avLst/>
          </a:prstGeom>
          <a:noFill/>
        </p:spPr>
        <p:txBody>
          <a:bodyPr wrap="square" rtlCol="0">
            <a:spAutoFit/>
          </a:bodyPr>
          <a:lstStyle/>
          <a:p>
            <a:pPr marL="342900" indent="-342900">
              <a:buFont typeface="Wingdings" panose="05000000000000000000" pitchFamily="2" charset="2"/>
              <a:buChar char="q"/>
            </a:pPr>
            <a:r>
              <a:rPr lang="en-US" sz="2400" b="1" dirty="0"/>
              <a:t>Slicers: </a:t>
            </a:r>
            <a:endParaRPr lang="en-IN" sz="2400" b="1" dirty="0"/>
          </a:p>
        </p:txBody>
      </p:sp>
      <p:sp>
        <p:nvSpPr>
          <p:cNvPr id="5" name="TextBox 4">
            <a:extLst>
              <a:ext uri="{FF2B5EF4-FFF2-40B4-BE49-F238E27FC236}">
                <a16:creationId xmlns:a16="http://schemas.microsoft.com/office/drawing/2014/main" id="{D7EC3697-8406-38D6-E077-0112C67E3D3D}"/>
              </a:ext>
            </a:extLst>
          </p:cNvPr>
          <p:cNvSpPr txBox="1"/>
          <p:nvPr/>
        </p:nvSpPr>
        <p:spPr>
          <a:xfrm>
            <a:off x="6243484" y="1120877"/>
            <a:ext cx="4650659" cy="2862322"/>
          </a:xfrm>
          <a:prstGeom prst="rect">
            <a:avLst/>
          </a:prstGeom>
          <a:noFill/>
        </p:spPr>
        <p:txBody>
          <a:bodyPr wrap="square" rtlCol="0">
            <a:spAutoFit/>
          </a:bodyPr>
          <a:lstStyle/>
          <a:p>
            <a:r>
              <a:rPr lang="en-US" b="1" dirty="0"/>
              <a:t>Insights:</a:t>
            </a:r>
          </a:p>
          <a:p>
            <a:endParaRPr lang="en-IN" dirty="0"/>
          </a:p>
          <a:p>
            <a:pPr marL="285750" indent="-285750">
              <a:buFont typeface="Wingdings" panose="05000000000000000000" pitchFamily="2" charset="2"/>
              <a:buChar char="§"/>
            </a:pPr>
            <a:r>
              <a:rPr lang="en-US" dirty="0"/>
              <a:t>Slicers allow filtering the dashboard by department, machine and operation</a:t>
            </a:r>
          </a:p>
          <a:p>
            <a:pPr marL="285750" indent="-285750">
              <a:buFont typeface="Wingdings" panose="05000000000000000000" pitchFamily="2" charset="2"/>
              <a:buChar char="§"/>
            </a:pPr>
            <a:r>
              <a:rPr lang="en-US" dirty="0"/>
              <a:t>Help identify which department or machine causes more rejection</a:t>
            </a:r>
          </a:p>
          <a:p>
            <a:pPr marL="285750" indent="-285750">
              <a:buFont typeface="Wingdings" panose="05000000000000000000" pitchFamily="2" charset="2"/>
              <a:buChar char="§"/>
            </a:pPr>
            <a:r>
              <a:rPr lang="en-US" dirty="0"/>
              <a:t>Make analysis more focused instead of overall numbers</a:t>
            </a:r>
          </a:p>
          <a:p>
            <a:pPr marL="285750" indent="-285750">
              <a:buFont typeface="Wingdings" panose="05000000000000000000" pitchFamily="2" charset="2"/>
              <a:buChar char="§"/>
            </a:pPr>
            <a:r>
              <a:rPr lang="en-US" dirty="0"/>
              <a:t>Useful for drill-down investigation and root-cause analysis</a:t>
            </a:r>
            <a:endParaRPr lang="en-IN" dirty="0"/>
          </a:p>
        </p:txBody>
      </p:sp>
    </p:spTree>
    <p:extLst>
      <p:ext uri="{BB962C8B-B14F-4D97-AF65-F5344CB8AC3E}">
        <p14:creationId xmlns:p14="http://schemas.microsoft.com/office/powerpoint/2010/main" val="2170738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349FA8-ED7F-18DC-8BF5-841DB95C3549}"/>
              </a:ext>
            </a:extLst>
          </p:cNvPr>
          <p:cNvSpPr txBox="1"/>
          <p:nvPr/>
        </p:nvSpPr>
        <p:spPr>
          <a:xfrm>
            <a:off x="3008671" y="403123"/>
            <a:ext cx="7403690" cy="646331"/>
          </a:xfrm>
          <a:prstGeom prst="rect">
            <a:avLst/>
          </a:prstGeom>
          <a:noFill/>
        </p:spPr>
        <p:txBody>
          <a:bodyPr wrap="square" rtlCol="0">
            <a:spAutoFit/>
          </a:bodyPr>
          <a:lstStyle/>
          <a:p>
            <a:r>
              <a:rPr lang="en-US" sz="3600" b="1" dirty="0"/>
              <a:t>Insights and Recommendations</a:t>
            </a:r>
            <a:endParaRPr lang="en-IN" sz="3600" b="1" dirty="0"/>
          </a:p>
        </p:txBody>
      </p:sp>
      <p:sp>
        <p:nvSpPr>
          <p:cNvPr id="3" name="TextBox 2">
            <a:extLst>
              <a:ext uri="{FF2B5EF4-FFF2-40B4-BE49-F238E27FC236}">
                <a16:creationId xmlns:a16="http://schemas.microsoft.com/office/drawing/2014/main" id="{DC7CA87F-C60A-9F79-67EA-0D9B934AF23D}"/>
              </a:ext>
            </a:extLst>
          </p:cNvPr>
          <p:cNvSpPr txBox="1"/>
          <p:nvPr/>
        </p:nvSpPr>
        <p:spPr>
          <a:xfrm>
            <a:off x="412955" y="963561"/>
            <a:ext cx="9615948" cy="2369880"/>
          </a:xfrm>
          <a:prstGeom prst="rect">
            <a:avLst/>
          </a:prstGeom>
          <a:noFill/>
        </p:spPr>
        <p:txBody>
          <a:bodyPr wrap="square" rtlCol="0">
            <a:spAutoFit/>
          </a:bodyPr>
          <a:lstStyle/>
          <a:p>
            <a:r>
              <a:rPr lang="en-US" sz="2800" b="1" dirty="0"/>
              <a:t>Insights: </a:t>
            </a:r>
          </a:p>
          <a:p>
            <a:pPr marL="342900" indent="-342900">
              <a:buFont typeface="Arial" panose="020B0604020202020204" pitchFamily="34" charset="0"/>
              <a:buChar char="•"/>
            </a:pPr>
            <a:r>
              <a:rPr lang="en-US" sz="2000" dirty="0"/>
              <a:t>Overall manufacturing output is strong (87M units)</a:t>
            </a:r>
          </a:p>
          <a:p>
            <a:pPr marL="342900" indent="-342900">
              <a:buFont typeface="Arial" panose="020B0604020202020204" pitchFamily="34" charset="0"/>
              <a:buChar char="•"/>
            </a:pPr>
            <a:r>
              <a:rPr lang="en-US" sz="2000" dirty="0"/>
              <a:t>Rejection quantity is low but concentrated in specific machines</a:t>
            </a:r>
          </a:p>
          <a:p>
            <a:pPr marL="342900" indent="-342900">
              <a:buFont typeface="Arial" panose="020B0604020202020204" pitchFamily="34" charset="0"/>
              <a:buChar char="•"/>
            </a:pPr>
            <a:r>
              <a:rPr lang="en-US" sz="2000" dirty="0"/>
              <a:t>One employee entry shows disproportionate rejection.</a:t>
            </a:r>
          </a:p>
          <a:p>
            <a:pPr marL="342900" indent="-342900">
              <a:buFont typeface="Arial" panose="020B0604020202020204" pitchFamily="34" charset="0"/>
              <a:buChar char="•"/>
            </a:pPr>
            <a:r>
              <a:rPr lang="en-US" sz="2000" dirty="0"/>
              <a:t>Department performance varies, highest in Woven Labels</a:t>
            </a:r>
          </a:p>
          <a:p>
            <a:pPr marL="342900" indent="-342900">
              <a:buFont typeface="Arial" panose="020B0604020202020204" pitchFamily="34" charset="0"/>
              <a:buChar char="•"/>
            </a:pPr>
            <a:r>
              <a:rPr lang="en-US" sz="2000" dirty="0"/>
              <a:t>Monthly production fluctuates significantly</a:t>
            </a:r>
          </a:p>
          <a:p>
            <a:pPr marL="342900" indent="-342900">
              <a:buFont typeface="Arial" panose="020B0604020202020204" pitchFamily="34" charset="0"/>
              <a:buChar char="•"/>
            </a:pPr>
            <a:r>
              <a:rPr lang="en-US" sz="2000" dirty="0"/>
              <a:t>Machines MC025 and MC129 contribute major rejection</a:t>
            </a:r>
            <a:endParaRPr lang="en-IN" sz="2000" dirty="0"/>
          </a:p>
        </p:txBody>
      </p:sp>
      <p:sp>
        <p:nvSpPr>
          <p:cNvPr id="4" name="TextBox 3">
            <a:extLst>
              <a:ext uri="{FF2B5EF4-FFF2-40B4-BE49-F238E27FC236}">
                <a16:creationId xmlns:a16="http://schemas.microsoft.com/office/drawing/2014/main" id="{FE8127D5-51FD-A97B-5E59-50A8180C1A2A}"/>
              </a:ext>
            </a:extLst>
          </p:cNvPr>
          <p:cNvSpPr txBox="1"/>
          <p:nvPr/>
        </p:nvSpPr>
        <p:spPr>
          <a:xfrm>
            <a:off x="412955" y="3657600"/>
            <a:ext cx="8327922" cy="1846659"/>
          </a:xfrm>
          <a:prstGeom prst="rect">
            <a:avLst/>
          </a:prstGeom>
          <a:noFill/>
        </p:spPr>
        <p:txBody>
          <a:bodyPr wrap="square" rtlCol="0">
            <a:spAutoFit/>
          </a:bodyPr>
          <a:lstStyle/>
          <a:p>
            <a:r>
              <a:rPr lang="en-US" sz="2400" b="1" dirty="0"/>
              <a:t>Recommendations :</a:t>
            </a:r>
          </a:p>
          <a:p>
            <a:pPr marL="342900" indent="-342900">
              <a:buFont typeface="Arial" panose="020B0604020202020204" pitchFamily="34" charset="0"/>
              <a:buChar char="•"/>
            </a:pPr>
            <a:r>
              <a:rPr lang="en-US" dirty="0"/>
              <a:t>Provide preventive maintenance on Machine MC029 &amp; MC125</a:t>
            </a:r>
          </a:p>
          <a:p>
            <a:pPr marL="342900" indent="-342900">
              <a:buFont typeface="Arial" panose="020B0604020202020204" pitchFamily="34" charset="0"/>
              <a:buChar char="•"/>
            </a:pPr>
            <a:r>
              <a:rPr lang="en-US" dirty="0"/>
              <a:t>Verify employee rejection entry.</a:t>
            </a:r>
          </a:p>
          <a:p>
            <a:pPr marL="342900" indent="-342900">
              <a:buFont typeface="Arial" panose="020B0604020202020204" pitchFamily="34" charset="0"/>
              <a:buChar char="•"/>
            </a:pPr>
            <a:r>
              <a:rPr lang="en-US" dirty="0"/>
              <a:t>Standardize process quality checks across departments</a:t>
            </a:r>
          </a:p>
          <a:p>
            <a:pPr marL="342900" indent="-342900">
              <a:buFont typeface="Arial" panose="020B0604020202020204" pitchFamily="34" charset="0"/>
              <a:buChar char="•"/>
            </a:pPr>
            <a:r>
              <a:rPr lang="en-US" dirty="0"/>
              <a:t>Automation in inspection can reduce manual rejection</a:t>
            </a:r>
          </a:p>
          <a:p>
            <a:pPr marL="342900" indent="-342900">
              <a:buFont typeface="Arial" panose="020B0604020202020204" pitchFamily="34" charset="0"/>
              <a:buChar char="•"/>
            </a:pPr>
            <a:r>
              <a:rPr lang="en-US" dirty="0"/>
              <a:t>Regular skill training for workforce </a:t>
            </a:r>
            <a:endParaRPr lang="en-IN" dirty="0"/>
          </a:p>
        </p:txBody>
      </p:sp>
    </p:spTree>
    <p:extLst>
      <p:ext uri="{BB962C8B-B14F-4D97-AF65-F5344CB8AC3E}">
        <p14:creationId xmlns:p14="http://schemas.microsoft.com/office/powerpoint/2010/main" val="2321243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97193-0303-5F32-97C3-0FF217575E4D}"/>
              </a:ext>
            </a:extLst>
          </p:cNvPr>
          <p:cNvSpPr txBox="1"/>
          <p:nvPr/>
        </p:nvSpPr>
        <p:spPr>
          <a:xfrm>
            <a:off x="4611328" y="560440"/>
            <a:ext cx="2782529" cy="646331"/>
          </a:xfrm>
          <a:prstGeom prst="rect">
            <a:avLst/>
          </a:prstGeom>
          <a:noFill/>
        </p:spPr>
        <p:txBody>
          <a:bodyPr wrap="square" rtlCol="0">
            <a:spAutoFit/>
          </a:bodyPr>
          <a:lstStyle/>
          <a:p>
            <a:r>
              <a:rPr lang="en-US" sz="3600" b="1" dirty="0"/>
              <a:t>Conclusion</a:t>
            </a:r>
            <a:endParaRPr lang="en-IN" sz="3600" b="1" dirty="0"/>
          </a:p>
        </p:txBody>
      </p:sp>
      <p:sp>
        <p:nvSpPr>
          <p:cNvPr id="3" name="TextBox 2">
            <a:extLst>
              <a:ext uri="{FF2B5EF4-FFF2-40B4-BE49-F238E27FC236}">
                <a16:creationId xmlns:a16="http://schemas.microsoft.com/office/drawing/2014/main" id="{ADA75F8C-BAF2-AC7C-A4DD-9F72E43CB58D}"/>
              </a:ext>
            </a:extLst>
          </p:cNvPr>
          <p:cNvSpPr txBox="1"/>
          <p:nvPr/>
        </p:nvSpPr>
        <p:spPr>
          <a:xfrm>
            <a:off x="1071716" y="1887793"/>
            <a:ext cx="8858865" cy="1754326"/>
          </a:xfrm>
          <a:prstGeom prst="rect">
            <a:avLst/>
          </a:prstGeom>
          <a:noFill/>
        </p:spPr>
        <p:txBody>
          <a:bodyPr wrap="square" rtlCol="0">
            <a:spAutoFit/>
          </a:bodyPr>
          <a:lstStyle/>
          <a:p>
            <a:r>
              <a:rPr lang="en-US" dirty="0"/>
              <a:t>This dashboard provides a comprehensive view of manufacturing performance by tracking production, process quantity, and rejection across machines, departments, and employees. The analysis indicates stable overall output with minimal rejection, however specific machines and certain user entries require detailed review. By focusing on machine-wise performance and employee training, the organization can further minimize wastage, maximize productivity and achieve higher operational efficiency.</a:t>
            </a:r>
            <a:endParaRPr lang="en-IN" dirty="0"/>
          </a:p>
        </p:txBody>
      </p:sp>
    </p:spTree>
    <p:extLst>
      <p:ext uri="{BB962C8B-B14F-4D97-AF65-F5344CB8AC3E}">
        <p14:creationId xmlns:p14="http://schemas.microsoft.com/office/powerpoint/2010/main" val="4136223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6540E4-A10B-CB57-83E0-D34413816715}"/>
              </a:ext>
            </a:extLst>
          </p:cNvPr>
          <p:cNvSpPr txBox="1"/>
          <p:nvPr/>
        </p:nvSpPr>
        <p:spPr>
          <a:xfrm>
            <a:off x="3195484" y="462116"/>
            <a:ext cx="5702710" cy="646331"/>
          </a:xfrm>
          <a:prstGeom prst="rect">
            <a:avLst/>
          </a:prstGeom>
          <a:noFill/>
        </p:spPr>
        <p:txBody>
          <a:bodyPr wrap="square" rtlCol="0">
            <a:spAutoFit/>
          </a:bodyPr>
          <a:lstStyle/>
          <a:p>
            <a:r>
              <a:rPr lang="en-US" sz="3600" b="1" dirty="0"/>
              <a:t>Challenges and Learnings</a:t>
            </a:r>
            <a:endParaRPr lang="en-IN" sz="3600" b="1" dirty="0"/>
          </a:p>
        </p:txBody>
      </p:sp>
      <p:sp>
        <p:nvSpPr>
          <p:cNvPr id="4" name="TextBox 3">
            <a:extLst>
              <a:ext uri="{FF2B5EF4-FFF2-40B4-BE49-F238E27FC236}">
                <a16:creationId xmlns:a16="http://schemas.microsoft.com/office/drawing/2014/main" id="{6950782E-E6CA-EC83-038E-4AAAF693E09F}"/>
              </a:ext>
            </a:extLst>
          </p:cNvPr>
          <p:cNvSpPr txBox="1"/>
          <p:nvPr/>
        </p:nvSpPr>
        <p:spPr>
          <a:xfrm>
            <a:off x="904567" y="1573160"/>
            <a:ext cx="9330813" cy="3693319"/>
          </a:xfrm>
          <a:prstGeom prst="rect">
            <a:avLst/>
          </a:prstGeom>
          <a:noFill/>
        </p:spPr>
        <p:txBody>
          <a:bodyPr wrap="square" rtlCol="0">
            <a:spAutoFit/>
          </a:bodyPr>
          <a:lstStyle/>
          <a:p>
            <a:r>
              <a:rPr lang="en-IN" b="1" dirty="0"/>
              <a:t>Challenges : </a:t>
            </a:r>
            <a:r>
              <a:rPr lang="en-IN" dirty="0"/>
              <a:t>The Challenges we faced in :</a:t>
            </a:r>
          </a:p>
          <a:p>
            <a:pPr marL="285750" indent="-285750">
              <a:buFont typeface="Arial" panose="020B0604020202020204" pitchFamily="34" charset="0"/>
              <a:buChar char="•"/>
            </a:pPr>
            <a:r>
              <a:rPr lang="en-IN" dirty="0"/>
              <a:t>Data cleaning and data type mismatch</a:t>
            </a:r>
          </a:p>
          <a:p>
            <a:pPr marL="285750" indent="-285750">
              <a:buFont typeface="Arial" panose="020B0604020202020204" pitchFamily="34" charset="0"/>
              <a:buChar char="•"/>
            </a:pPr>
            <a:r>
              <a:rPr lang="en-IN" dirty="0"/>
              <a:t>Understanding production domain terms</a:t>
            </a:r>
          </a:p>
          <a:p>
            <a:pPr marL="285750" indent="-285750">
              <a:buFont typeface="Arial" panose="020B0604020202020204" pitchFamily="34" charset="0"/>
              <a:buChar char="•"/>
            </a:pPr>
            <a:r>
              <a:rPr lang="en-IN" dirty="0"/>
              <a:t>Handling multiple tables and KPIs</a:t>
            </a:r>
          </a:p>
          <a:p>
            <a:pPr marL="285750" indent="-285750">
              <a:buFont typeface="Arial" panose="020B0604020202020204" pitchFamily="34" charset="0"/>
              <a:buChar char="•"/>
            </a:pPr>
            <a:r>
              <a:rPr lang="en-IN" dirty="0"/>
              <a:t>Fixing manual entry inconsistencies</a:t>
            </a:r>
          </a:p>
          <a:p>
            <a:pPr marL="285750" indent="-285750">
              <a:buFont typeface="Arial" panose="020B0604020202020204" pitchFamily="34" charset="0"/>
              <a:buChar char="•"/>
            </a:pPr>
            <a:r>
              <a:rPr lang="en-IN" dirty="0"/>
              <a:t>Machine codes interpretation</a:t>
            </a:r>
          </a:p>
          <a:p>
            <a:endParaRPr lang="en-IN" dirty="0"/>
          </a:p>
          <a:p>
            <a:r>
              <a:rPr lang="en-US" b="1" dirty="0"/>
              <a:t>Learnings : </a:t>
            </a:r>
          </a:p>
          <a:p>
            <a:pPr marL="285750" indent="-285750">
              <a:buFont typeface="Arial" panose="020B0604020202020204" pitchFamily="34" charset="0"/>
              <a:buChar char="•"/>
            </a:pPr>
            <a:r>
              <a:rPr lang="en-US" dirty="0"/>
              <a:t>Understanding manufacturing KPIs &amp; operational flow</a:t>
            </a:r>
          </a:p>
          <a:p>
            <a:pPr marL="285750" indent="-285750">
              <a:buFont typeface="Arial" panose="020B0604020202020204" pitchFamily="34" charset="0"/>
              <a:buChar char="•"/>
            </a:pPr>
            <a:r>
              <a:rPr lang="en-US" dirty="0"/>
              <a:t>Creating data models and measures</a:t>
            </a:r>
          </a:p>
          <a:p>
            <a:pPr marL="285750" indent="-285750">
              <a:buFont typeface="Arial" panose="020B0604020202020204" pitchFamily="34" charset="0"/>
              <a:buChar char="•"/>
            </a:pPr>
            <a:r>
              <a:rPr lang="en-US" dirty="0"/>
              <a:t>Building drill-down charts (employee, machine, department)</a:t>
            </a:r>
          </a:p>
          <a:p>
            <a:pPr marL="285750" indent="-285750">
              <a:buFont typeface="Arial" panose="020B0604020202020204" pitchFamily="34" charset="0"/>
              <a:buChar char="•"/>
            </a:pPr>
            <a:r>
              <a:rPr lang="en-US" dirty="0"/>
              <a:t>Comparing rejection vs production visually</a:t>
            </a:r>
          </a:p>
          <a:p>
            <a:pPr marL="285750" indent="-285750">
              <a:buFont typeface="Arial" panose="020B0604020202020204" pitchFamily="34" charset="0"/>
              <a:buChar char="•"/>
            </a:pPr>
            <a:r>
              <a:rPr lang="en-US" dirty="0"/>
              <a:t>Real industry-based insight generation</a:t>
            </a:r>
            <a:endParaRPr lang="en-IN" dirty="0"/>
          </a:p>
        </p:txBody>
      </p:sp>
    </p:spTree>
    <p:extLst>
      <p:ext uri="{BB962C8B-B14F-4D97-AF65-F5344CB8AC3E}">
        <p14:creationId xmlns:p14="http://schemas.microsoft.com/office/powerpoint/2010/main" val="3229727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865CF8-3D3B-EC20-7469-391C296DDE9D}"/>
              </a:ext>
            </a:extLst>
          </p:cNvPr>
          <p:cNvSpPr txBox="1"/>
          <p:nvPr/>
        </p:nvSpPr>
        <p:spPr>
          <a:xfrm>
            <a:off x="3746090" y="422788"/>
            <a:ext cx="4316362" cy="646331"/>
          </a:xfrm>
          <a:prstGeom prst="rect">
            <a:avLst/>
          </a:prstGeom>
          <a:noFill/>
        </p:spPr>
        <p:txBody>
          <a:bodyPr wrap="square" rtlCol="0">
            <a:spAutoFit/>
          </a:bodyPr>
          <a:lstStyle/>
          <a:p>
            <a:r>
              <a:rPr lang="en-US" sz="3600" b="1" dirty="0"/>
              <a:t>Dashboard Picture</a:t>
            </a:r>
            <a:endParaRPr lang="en-IN" sz="3600" b="1" dirty="0"/>
          </a:p>
        </p:txBody>
      </p:sp>
      <p:pic>
        <p:nvPicPr>
          <p:cNvPr id="4" name="Picture 3">
            <a:extLst>
              <a:ext uri="{FF2B5EF4-FFF2-40B4-BE49-F238E27FC236}">
                <a16:creationId xmlns:a16="http://schemas.microsoft.com/office/drawing/2014/main" id="{9DD635FB-8712-987D-23B5-BF7601469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5271" y="1103520"/>
            <a:ext cx="8351452" cy="4650960"/>
          </a:xfrm>
          <a:prstGeom prst="rect">
            <a:avLst/>
          </a:prstGeom>
        </p:spPr>
      </p:pic>
    </p:spTree>
    <p:extLst>
      <p:ext uri="{BB962C8B-B14F-4D97-AF65-F5344CB8AC3E}">
        <p14:creationId xmlns:p14="http://schemas.microsoft.com/office/powerpoint/2010/main" val="3514218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3A6C25-C551-4D64-B40C-4F4A586632AA}"/>
              </a:ext>
            </a:extLst>
          </p:cNvPr>
          <p:cNvSpPr txBox="1"/>
          <p:nvPr/>
        </p:nvSpPr>
        <p:spPr>
          <a:xfrm>
            <a:off x="2930013" y="1877961"/>
            <a:ext cx="7561006" cy="1599156"/>
          </a:xfrm>
          <a:prstGeom prst="rect">
            <a:avLst/>
          </a:prstGeom>
          <a:noFill/>
        </p:spPr>
        <p:txBody>
          <a:bodyPr wrap="square" rtlCol="0">
            <a:spAutoFit/>
          </a:bodyPr>
          <a:lstStyle/>
          <a:p>
            <a:r>
              <a:rPr lang="en-US" sz="9600" b="1" dirty="0"/>
              <a:t>Thank You</a:t>
            </a:r>
            <a:endParaRPr lang="en-IN" sz="9600" b="1" dirty="0"/>
          </a:p>
        </p:txBody>
      </p:sp>
    </p:spTree>
    <p:extLst>
      <p:ext uri="{BB962C8B-B14F-4D97-AF65-F5344CB8AC3E}">
        <p14:creationId xmlns:p14="http://schemas.microsoft.com/office/powerpoint/2010/main" val="173660607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331</TotalTime>
  <Words>975</Words>
  <Application>Microsoft Office PowerPoint</Application>
  <PresentationFormat>Widescreen</PresentationFormat>
  <Paragraphs>121</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Gill Sans MT</vt:lpstr>
      <vt:lpstr>Wingdings</vt:lpstr>
      <vt:lpstr>Gallery</vt:lpstr>
      <vt:lpstr>Manufacturing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UserPC</dc:creator>
  <cp:lastModifiedBy>Vivek Khanzode</cp:lastModifiedBy>
  <cp:revision>5</cp:revision>
  <dcterms:created xsi:type="dcterms:W3CDTF">2025-12-08T11:50:10Z</dcterms:created>
  <dcterms:modified xsi:type="dcterms:W3CDTF">2025-12-11T15:34:23Z</dcterms:modified>
</cp:coreProperties>
</file>